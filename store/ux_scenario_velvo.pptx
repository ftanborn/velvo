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ore-icon-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5400" b="1">
                <a:solidFill>
                  <a:srgbClr val="FFFFFF"/>
                </a:solidFill>
                <a:latin typeface="Arial"/>
              </a:defRPr>
            </a:pPr>
            <a:r>
              <a:t>Velvo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0">
                <a:solidFill>
                  <a:srgbClr val="FF4D8D"/>
                </a:solidFill>
                <a:latin typeface="Arial"/>
              </a:defRPr>
            </a:pPr>
            <a:r>
              <a:t>UX Scenario Document (File Version 4.3)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Submission Date:  2026 / __ / __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App Ver.:  1.0.0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App Developer:  FTanBorn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E-mail address:  (support e-mail)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60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1C0812"/>
                </a:solidFill>
                <a:latin typeface="Arial"/>
              </a:defRPr>
            </a:pPr>
            <a:r>
              <a:t>1. Basic Information</a:t>
            </a:r>
          </a:p>
          <a:p>
            <a:pPr>
              <a:spcAft>
                <a:spcPts val="400"/>
              </a:spcAft>
              <a:defRPr sz="2000" b="0">
                <a:solidFill>
                  <a:srgbClr val="1C0812"/>
                </a:solidFill>
                <a:latin typeface="Arial"/>
              </a:defRPr>
            </a:pPr>
            <a:r>
              <a:t>2. Document History</a:t>
            </a:r>
          </a:p>
          <a:p>
            <a:pPr>
              <a:spcAft>
                <a:spcPts val="400"/>
              </a:spcAft>
              <a:defRPr sz="2000" b="0">
                <a:solidFill>
                  <a:srgbClr val="1C0812"/>
                </a:solidFill>
                <a:latin typeface="Arial"/>
              </a:defRPr>
            </a:pPr>
            <a:r>
              <a:t>3. Page Description (how to read this document)</a:t>
            </a:r>
          </a:p>
          <a:p>
            <a:pPr>
              <a:spcAft>
                <a:spcPts val="400"/>
              </a:spcAft>
              <a:defRPr sz="2000" b="0">
                <a:solidFill>
                  <a:srgbClr val="1C0812"/>
                </a:solidFill>
                <a:latin typeface="Arial"/>
              </a:defRPr>
            </a:pPr>
            <a:r>
              <a:t>4. Detailed Login Information</a:t>
            </a:r>
          </a:p>
          <a:p>
            <a:pPr>
              <a:spcAft>
                <a:spcPts val="400"/>
              </a:spcAft>
              <a:defRPr sz="2000" b="0">
                <a:solidFill>
                  <a:srgbClr val="1C0812"/>
                </a:solidFill>
                <a:latin typeface="Arial"/>
              </a:defRPr>
            </a:pPr>
            <a:r>
              <a:t>5. Main Page Description  (5-1 Start page · 5-2 Main page)</a:t>
            </a:r>
          </a:p>
          <a:p>
            <a:pPr>
              <a:spcAft>
                <a:spcPts val="400"/>
              </a:spcAft>
              <a:defRPr sz="2000" b="0">
                <a:solidFill>
                  <a:srgbClr val="1C0812"/>
                </a:solidFill>
                <a:latin typeface="Arial"/>
              </a:defRPr>
            </a:pPr>
            <a:r>
              <a:t>6. Sub Page Description  (flow chart, movie, series, player, live TV, search, settings)</a:t>
            </a:r>
          </a:p>
          <a:p>
            <a:pPr>
              <a:spcAft>
                <a:spcPts val="400"/>
              </a:spcAft>
              <a:defRPr sz="2000" b="0">
                <a:solidFill>
                  <a:srgbClr val="1C0812"/>
                </a:solidFill>
                <a:latin typeface="Arial"/>
              </a:defRPr>
            </a:pPr>
            <a:r>
              <a:t>7. Paid Content</a:t>
            </a:r>
          </a:p>
          <a:p>
            <a:pPr>
              <a:spcAft>
                <a:spcPts val="400"/>
              </a:spcAft>
              <a:defRPr sz="2000" b="0">
                <a:solidFill>
                  <a:srgbClr val="1C0812"/>
                </a:solidFill>
                <a:latin typeface="Arial"/>
              </a:defRPr>
            </a:pPr>
            <a:r>
              <a:t>8. In-App Ad</a:t>
            </a:r>
          </a:p>
          <a:p>
            <a:pPr>
              <a:spcAft>
                <a:spcPts val="400"/>
              </a:spcAft>
              <a:defRPr sz="2000" b="0">
                <a:solidFill>
                  <a:srgbClr val="1C0812"/>
                </a:solidFill>
                <a:latin typeface="Arial"/>
              </a:defRPr>
            </a:pPr>
            <a:r>
              <a:t>Appendix: Notes for LG QA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60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1. Basic Information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68680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Information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App title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Velvo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App ID / version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io.github.ftanborn.velvo / 1.0.0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What it is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A media player for the user's own M3U playlist or Xtream Codes account. The app contains no channels, movies or series of its own.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Main feature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Choosing the audio and embedded subtitle language of the video being watched, with subtitle size, color and position settings.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Price / payment / ads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Free. No in-app purchases, no payment, no advertisements.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Accounts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No Velvo account. The user enters a playlist address; test playlist in section 4.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Interface languages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English and Turkish. "Automatic" follows the TV language; can be changed in Settings › Language and subtitles.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Remote controls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Magic Remote (pointer, OK, wheel) and the standard remote (arrows, OK, BACK, color and media keys).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Data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Playlist details, profiles and preferences are stored only on the TV. Privacy policy: https://ftanborn.github.io/velvo/privacy.html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Source code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https://github.com/FTanBorn/velvo (GPL-3.0)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60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2. Document History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Sent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File Name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Contents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__.__.2026</a:t>
                      </a:r>
                    </a:p>
                  </a:txBody>
                  <a:tcPr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1.0.0</a:t>
                      </a:r>
                    </a:p>
                  </a:txBody>
                  <a:tcPr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UX Scenario</a:t>
                      </a:r>
                    </a:p>
                  </a:txBody>
                  <a:tcPr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Initial document</a:t>
                      </a:r>
                    </a:p>
                  </a:txBody>
                  <a:tcPr>
                    <a:solidFill>
                      <a:srgbClr val="F6F1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60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3. Page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C0812"/>
                </a:solidFill>
                <a:latin typeface="Arial"/>
              </a:defRPr>
            </a:pPr>
            <a:r>
              <a:t>Each page shows a screenshot of the app with numbered pink markers.</a:t>
            </a:r>
          </a:p>
          <a:p>
            <a:pPr>
              <a:spcAft>
                <a:spcPts val="400"/>
              </a:spcAft>
              <a:defRPr sz="1800" b="0">
                <a:solidFill>
                  <a:srgbClr val="1C0812"/>
                </a:solidFill>
                <a:latin typeface="Arial"/>
              </a:defRPr>
            </a:pPr>
            <a:r>
              <a:t>The table on the right describes the menu or UI button with the same number.</a:t>
            </a:r>
          </a:p>
          <a:p>
            <a:pPr>
              <a:spcAft>
                <a:spcPts val="400"/>
              </a:spcAft>
              <a:defRPr sz="1800" b="0">
                <a:solidFill>
                  <a:srgbClr val="1C0812"/>
                </a:solidFill>
                <a:latin typeface="Arial"/>
              </a:defRPr>
            </a:pPr>
            <a:r>
              <a:t>All screenshots were taken with the English interface and the demo playlist from section 4.</a:t>
            </a:r>
          </a:p>
          <a:p>
            <a:pPr>
              <a:spcAft>
                <a:spcPts val="400"/>
              </a:spcAft>
              <a:defRPr sz="1800" b="0">
                <a:solidFill>
                  <a:srgbClr val="1C0812"/>
                </a:solidFill>
                <a:latin typeface="Arial"/>
              </a:defRPr>
            </a:pPr>
            <a:r>
              <a:t>Every button can be used with the arrow keys + OK and with the Magic Remote pointer.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60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4. Detailed Login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945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C9CDD4"/>
                </a:solidFill>
                <a:latin typeface="Arial"/>
              </a:defRPr>
            </a:pPr>
            <a:r>
              <a:t>Login page</a:t>
            </a:r>
          </a:p>
        </p:txBody>
      </p:sp>
      <p:pic>
        <p:nvPicPr>
          <p:cNvPr id="6" name="Picture 5" descr="a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6949440" cy="39090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43800" y="1143000"/>
          <a:ext cx="42976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3794760"/>
              </a:tblGrid>
              <a:tr h="2743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Xtream: server address, username and password from the user's provider. Not needed for QA.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M3U playlist: select this for QA.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Playlist address: enter  https://ftanborn.github.io/velvo/demo.m3u  (LG virtual keyboard).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Connect: checks the playlist and opens the Main page.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166360"/>
            <a:ext cx="6949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5555F"/>
                </a:solidFill>
                <a:latin typeface="Arial"/>
              </a:defRPr>
            </a:pPr>
            <a:r>
              <a:t>Test Accounts (ID / PW): not required.   Activation Codes: not required.</a:t>
            </a:r>
          </a:p>
          <a:p>
            <a:pPr>
              <a:spcAft>
                <a:spcPts val="400"/>
              </a:spcAft>
              <a:defRPr sz="1100" b="0">
                <a:solidFill>
                  <a:srgbClr val="55555F"/>
                </a:solidFill>
                <a:latin typeface="Arial"/>
              </a:defRPr>
            </a:pPr>
            <a:r>
              <a:t>Test playlist (M3U): https://ftanborn.github.io/velvo/demo.m3u. It works on any number of devices and contains only openly licensed Blender Foundation films and public test streams.</a:t>
            </a:r>
          </a:p>
          <a:p>
            <a:pPr>
              <a:spcAft>
                <a:spcPts val="400"/>
              </a:spcAft>
              <a:defRPr sz="1100" b="0">
                <a:solidFill>
                  <a:srgbClr val="55555F"/>
                </a:solidFill>
                <a:latin typeface="Arial"/>
              </a:defRPr>
            </a:pPr>
            <a:r>
              <a:t>The login page appears on first launch. The playlist stays saved after relaunch and TV reboot; Settings › IPTV account › Sign out removes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60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5. Main Page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945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C9CDD4"/>
                </a:solidFill>
                <a:latin typeface="Arial"/>
              </a:defRPr>
            </a:pPr>
            <a:r>
              <a:t>5-1 Start page (profiles)</a:t>
            </a:r>
          </a:p>
        </p:txBody>
      </p:sp>
      <p:pic>
        <p:nvPicPr>
          <p:cNvPr id="6" name="Picture 5" descr="a-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6949440" cy="39090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43800" y="1143000"/>
          <a:ext cx="42976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3794760"/>
              </a:tblGrid>
              <a:tr h="2743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Profile: OK opens the Main page for this profile.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Add profile: enter a name with the on-screen keyboard and pick a color.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Manage profiles: rename, recolor or delete profiles.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166360"/>
            <a:ext cx="6949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5555F"/>
                </a:solidFill>
                <a:latin typeface="Arial"/>
              </a:defRPr>
            </a:pPr>
            <a:r>
              <a:t>This page appears at launch when the TV has more than one profile. With a single profile the app opens the Main page directly.</a:t>
            </a:r>
          </a:p>
          <a:p>
            <a:pPr>
              <a:spcAft>
                <a:spcPts val="400"/>
              </a:spcAft>
              <a:defRPr sz="1100" b="0">
                <a:solidFill>
                  <a:srgbClr val="55555F"/>
                </a:solidFill>
                <a:latin typeface="Arial"/>
              </a:defRPr>
            </a:pPr>
            <a:r>
              <a:t>Each profile has its own language preferences, watch progress and My List.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60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5. Main Page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945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C9CDD4"/>
                </a:solidFill>
                <a:latin typeface="Arial"/>
              </a:defRPr>
            </a:pPr>
            <a:r>
              <a:t>5-2 Main page (Home)</a:t>
            </a:r>
          </a:p>
        </p:txBody>
      </p:sp>
      <p:pic>
        <p:nvPicPr>
          <p:cNvPr id="6" name="Picture 5" descr="a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6949440" cy="39090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43800" y="1143000"/>
          <a:ext cx="42976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3794760"/>
              </a:tblGrid>
              <a:tr h="2743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Profile: switch to another profile.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Search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Home (this page)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Movies: categories and titles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Series: categories and titles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Live TV: categories and channels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My List: saved movies and series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Settings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Play: plays the featured title.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Details: opens the detail page.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Add to / remove from My List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Continue watching: resumes where the user stopped.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Content rows: one row per category; ▼ or the Magic Remote wheel scrolls down.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166360"/>
            <a:ext cx="6949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5555F"/>
                </a:solidFill>
                <a:latin typeface="Arial"/>
              </a:defRPr>
            </a:pPr>
            <a:r>
              <a:t>The menu on the left (1–8) is reachable from every page with ◀.</a:t>
            </a:r>
          </a:p>
          <a:p>
            <a:pPr>
              <a:spcAft>
                <a:spcPts val="400"/>
              </a:spcAft>
              <a:defRPr sz="1100" b="0">
                <a:solidFill>
                  <a:srgbClr val="55555F"/>
                </a:solidFill>
                <a:latin typeface="Arial"/>
              </a:defRPr>
            </a:pPr>
            <a:r>
              <a:t>Titles open the detail page with OK.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60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6. Sub Page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945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C9CDD4"/>
                </a:solidFill>
                <a:latin typeface="Arial"/>
              </a:defRPr>
            </a:pPr>
            <a:r>
              <a:t>6-1 Flow chart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645920" cy="640080"/>
          </a:xfrm>
          <a:prstGeom prst="roundRect">
            <a:avLst/>
          </a:prstGeom>
          <a:solidFill>
            <a:srgbClr val="E6005C"/>
          </a:solidFill>
          <a:ln>
            <a:solidFill>
              <a:srgbClr val="E60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App launch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71600"/>
            <a:ext cx="2011680" cy="640080"/>
          </a:xfrm>
          <a:prstGeom prst="roundRect">
            <a:avLst/>
          </a:prstGeom>
          <a:solidFill>
            <a:srgbClr val="F6F1F4"/>
          </a:solidFill>
          <a:ln>
            <a:solidFill>
              <a:srgbClr val="E60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0812"/>
                </a:solidFill>
                <a:latin typeface="Arial"/>
              </a:defRPr>
            </a:pPr>
            <a:r>
              <a:t>Login (4)</a:t>
            </a:r>
          </a:p>
          <a:p>
            <a:pPr algn="ctr">
              <a:defRPr sz="1200" b="1">
                <a:solidFill>
                  <a:srgbClr val="1C0812"/>
                </a:solidFill>
                <a:latin typeface="Arial"/>
              </a:defRPr>
            </a:pPr>
            <a:r>
              <a:t>no playlist saved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377440"/>
            <a:ext cx="2011680" cy="640080"/>
          </a:xfrm>
          <a:prstGeom prst="roundRect">
            <a:avLst/>
          </a:prstGeom>
          <a:solidFill>
            <a:srgbClr val="F6F1F4"/>
          </a:solidFill>
          <a:ln>
            <a:solidFill>
              <a:srgbClr val="E60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0812"/>
                </a:solidFill>
                <a:latin typeface="Arial"/>
              </a:defRPr>
            </a:pPr>
            <a:r>
              <a:t>Profiles (5-1)</a:t>
            </a:r>
          </a:p>
          <a:p>
            <a:pPr algn="ctr">
              <a:defRPr sz="1200" b="1">
                <a:solidFill>
                  <a:srgbClr val="1C0812"/>
                </a:solidFill>
                <a:latin typeface="Arial"/>
              </a:defRPr>
            </a:pPr>
            <a:r>
              <a:t>2+ profiles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828800"/>
            <a:ext cx="1828800" cy="822960"/>
          </a:xfrm>
          <a:prstGeom prst="roundRect">
            <a:avLst/>
          </a:prstGeom>
          <a:solidFill>
            <a:srgbClr val="E6005C"/>
          </a:solidFill>
          <a:ln>
            <a:solidFill>
              <a:srgbClr val="E60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Main page</a:t>
            </a:r>
          </a:p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Home (5-2)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03120" y="1691640"/>
            <a:ext cx="640080" cy="0"/>
          </a:xfrm>
          <a:prstGeom prst="line">
            <a:avLst/>
          </a:prstGeom>
          <a:ln w="19050">
            <a:solidFill>
              <a:srgbClr val="555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103120" y="1691640"/>
            <a:ext cx="640080" cy="1005840"/>
          </a:xfrm>
          <a:prstGeom prst="line">
            <a:avLst/>
          </a:prstGeom>
          <a:ln w="19050">
            <a:solidFill>
              <a:srgbClr val="555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54880" y="1691640"/>
            <a:ext cx="731520" cy="411480"/>
          </a:xfrm>
          <a:prstGeom prst="line">
            <a:avLst/>
          </a:prstGeom>
          <a:ln w="19050">
            <a:solidFill>
              <a:srgbClr val="555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754880" y="2377440"/>
            <a:ext cx="731520" cy="320040"/>
          </a:xfrm>
          <a:prstGeom prst="line">
            <a:avLst/>
          </a:prstGeom>
          <a:ln w="19050">
            <a:solidFill>
              <a:srgbClr val="555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0" y="1188720"/>
            <a:ext cx="1828800" cy="457200"/>
          </a:xfrm>
          <a:prstGeom prst="roundRect">
            <a:avLst/>
          </a:prstGeom>
          <a:solidFill>
            <a:srgbClr val="F6F1F4"/>
          </a:solidFill>
          <a:ln>
            <a:solidFill>
              <a:srgbClr val="E60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0812"/>
                </a:solidFill>
                <a:latin typeface="Arial"/>
              </a:defRPr>
            </a:pPr>
            <a:r>
              <a:t>Search (6-6)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315200" y="1417320"/>
            <a:ext cx="914400" cy="822960"/>
          </a:xfrm>
          <a:prstGeom prst="line">
            <a:avLst/>
          </a:prstGeom>
          <a:ln w="19050">
            <a:solidFill>
              <a:srgbClr val="555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0" y="1755648"/>
            <a:ext cx="1828800" cy="457200"/>
          </a:xfrm>
          <a:prstGeom prst="roundRect">
            <a:avLst/>
          </a:prstGeom>
          <a:solidFill>
            <a:srgbClr val="F6F1F4"/>
          </a:solidFill>
          <a:ln>
            <a:solidFill>
              <a:srgbClr val="E60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0812"/>
                </a:solidFill>
                <a:latin typeface="Arial"/>
              </a:defRPr>
            </a:pPr>
            <a:r>
              <a:t>Movies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315200" y="1984248"/>
            <a:ext cx="914400" cy="256032"/>
          </a:xfrm>
          <a:prstGeom prst="line">
            <a:avLst/>
          </a:prstGeom>
          <a:ln w="19050">
            <a:solidFill>
              <a:srgbClr val="555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9600" y="2322576"/>
            <a:ext cx="1828800" cy="457200"/>
          </a:xfrm>
          <a:prstGeom prst="roundRect">
            <a:avLst/>
          </a:prstGeom>
          <a:solidFill>
            <a:srgbClr val="F6F1F4"/>
          </a:solidFill>
          <a:ln>
            <a:solidFill>
              <a:srgbClr val="E60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0812"/>
                </a:solidFill>
                <a:latin typeface="Arial"/>
              </a:defRPr>
            </a:pPr>
            <a:r>
              <a:t>Series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0" y="2240280"/>
            <a:ext cx="914400" cy="310896"/>
          </a:xfrm>
          <a:prstGeom prst="line">
            <a:avLst/>
          </a:prstGeom>
          <a:ln w="19050">
            <a:solidFill>
              <a:srgbClr val="555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29600" y="2889504"/>
            <a:ext cx="1828800" cy="457200"/>
          </a:xfrm>
          <a:prstGeom prst="roundRect">
            <a:avLst/>
          </a:prstGeom>
          <a:solidFill>
            <a:srgbClr val="F6F1F4"/>
          </a:solidFill>
          <a:ln>
            <a:solidFill>
              <a:srgbClr val="E60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0812"/>
                </a:solidFill>
                <a:latin typeface="Arial"/>
              </a:defRPr>
            </a:pPr>
            <a:r>
              <a:t>Live TV (6-5)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0" y="2240280"/>
            <a:ext cx="914400" cy="877824"/>
          </a:xfrm>
          <a:prstGeom prst="line">
            <a:avLst/>
          </a:prstGeom>
          <a:ln w="19050">
            <a:solidFill>
              <a:srgbClr val="555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29600" y="3456432"/>
            <a:ext cx="1828800" cy="457200"/>
          </a:xfrm>
          <a:prstGeom prst="roundRect">
            <a:avLst/>
          </a:prstGeom>
          <a:solidFill>
            <a:srgbClr val="F6F1F4"/>
          </a:solidFill>
          <a:ln>
            <a:solidFill>
              <a:srgbClr val="E60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0812"/>
                </a:solidFill>
                <a:latin typeface="Arial"/>
              </a:defRPr>
            </a:pPr>
            <a:r>
              <a:t>My List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0" y="2240280"/>
            <a:ext cx="914400" cy="1444752"/>
          </a:xfrm>
          <a:prstGeom prst="line">
            <a:avLst/>
          </a:prstGeom>
          <a:ln w="19050">
            <a:solidFill>
              <a:srgbClr val="555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29600" y="4023360"/>
            <a:ext cx="1828800" cy="457200"/>
          </a:xfrm>
          <a:prstGeom prst="roundRect">
            <a:avLst/>
          </a:prstGeom>
          <a:solidFill>
            <a:srgbClr val="F6F1F4"/>
          </a:solidFill>
          <a:ln>
            <a:solidFill>
              <a:srgbClr val="E60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0812"/>
                </a:solidFill>
                <a:latin typeface="Arial"/>
              </a:defRPr>
            </a:pPr>
            <a:r>
              <a:t>Settings (6-7)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0" y="2240280"/>
            <a:ext cx="914400" cy="2011680"/>
          </a:xfrm>
          <a:prstGeom prst="line">
            <a:avLst/>
          </a:prstGeom>
          <a:ln w="19050">
            <a:solidFill>
              <a:srgbClr val="555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486400" y="4023360"/>
            <a:ext cx="1828800" cy="731520"/>
          </a:xfrm>
          <a:prstGeom prst="roundRect">
            <a:avLst/>
          </a:prstGeom>
          <a:solidFill>
            <a:srgbClr val="F6F1F4"/>
          </a:solidFill>
          <a:ln>
            <a:solidFill>
              <a:srgbClr val="E60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0812"/>
                </a:solidFill>
                <a:latin typeface="Arial"/>
              </a:defRPr>
            </a:pPr>
            <a:r>
              <a:t>Detail</a:t>
            </a:r>
          </a:p>
          <a:p>
            <a:pPr algn="ctr">
              <a:defRPr sz="1200" b="1">
                <a:solidFill>
                  <a:srgbClr val="1C0812"/>
                </a:solidFill>
                <a:latin typeface="Arial"/>
              </a:defRPr>
            </a:pPr>
            <a:r>
              <a:t>movie (6-2) / series (6-3)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846320"/>
            <a:ext cx="1828800" cy="731520"/>
          </a:xfrm>
          <a:prstGeom prst="roundRect">
            <a:avLst/>
          </a:prstGeom>
          <a:solidFill>
            <a:srgbClr val="E6005C"/>
          </a:solidFill>
          <a:ln>
            <a:solidFill>
              <a:srgbClr val="E60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Player (6-4)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0" y="2651760"/>
            <a:ext cx="0" cy="1371600"/>
          </a:xfrm>
          <a:prstGeom prst="line">
            <a:avLst/>
          </a:prstGeom>
          <a:ln w="19050">
            <a:solidFill>
              <a:srgbClr val="555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315200" y="4389120"/>
            <a:ext cx="914400" cy="731520"/>
          </a:xfrm>
          <a:prstGeom prst="line">
            <a:avLst/>
          </a:prstGeom>
          <a:ln w="19050">
            <a:solidFill>
              <a:srgbClr val="555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0" y="4297680"/>
            <a:ext cx="0" cy="548640"/>
          </a:xfrm>
          <a:prstGeom prst="line">
            <a:avLst/>
          </a:prstGeom>
          <a:ln w="19050">
            <a:solidFill>
              <a:srgbClr val="555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393192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5555F"/>
                </a:solidFill>
                <a:latin typeface="Arial"/>
              </a:defRPr>
            </a:pPr>
            <a:r>
              <a:t>With a saved playlist and one profile, the app opens the Main page directly.</a:t>
            </a:r>
          </a:p>
          <a:p>
            <a:pPr>
              <a:spcAft>
                <a:spcPts val="400"/>
              </a:spcAft>
              <a:defRPr sz="1200" b="0">
                <a:solidFill>
                  <a:srgbClr val="55555F"/>
                </a:solidFill>
                <a:latin typeface="Arial"/>
              </a:defRPr>
            </a:pPr>
            <a:r>
              <a:t>BACK returns to the previous page.</a:t>
            </a:r>
          </a:p>
          <a:p>
            <a:pPr>
              <a:spcAft>
                <a:spcPts val="400"/>
              </a:spcAft>
              <a:defRPr sz="1200" b="0">
                <a:solidFill>
                  <a:srgbClr val="55555F"/>
                </a:solidFill>
                <a:latin typeface="Arial"/>
              </a:defRPr>
            </a:pPr>
            <a:r>
              <a:t>BACK on the Main page exits the app (webOS.platformBack).</a:t>
            </a:r>
          </a:p>
          <a:p>
            <a:pPr>
              <a:spcAft>
                <a:spcPts val="400"/>
              </a:spcAft>
              <a:defRPr sz="1200" b="0">
                <a:solidFill>
                  <a:srgbClr val="55555F"/>
                </a:solidFill>
                <a:latin typeface="Arial"/>
              </a:defRPr>
            </a:pPr>
            <a:r>
              <a:t>Live TV channels open the player directly; CH+ / CH− switch channels.</a:t>
            </a:r>
          </a:p>
          <a:p>
            <a:pPr>
              <a:spcAft>
                <a:spcPts val="400"/>
              </a:spcAft>
              <a:defRPr sz="1200" b="0">
                <a:solidFill>
                  <a:srgbClr val="55555F"/>
                </a:solidFill>
                <a:latin typeface="Arial"/>
              </a:defRPr>
            </a:pPr>
            <a:r>
              <a:t>Search, Movies, Series and My List open the detail page.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60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6. Sub Page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945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C9CDD4"/>
                </a:solidFill>
                <a:latin typeface="Arial"/>
              </a:defRPr>
            </a:pPr>
            <a:r>
              <a:t>6-2 Movie detail</a:t>
            </a:r>
          </a:p>
        </p:txBody>
      </p:sp>
      <p:pic>
        <p:nvPicPr>
          <p:cNvPr id="6" name="Picture 5" descr="a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6949440" cy="39090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43800" y="1143000"/>
          <a:ext cx="429768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3794760"/>
              </a:tblGrid>
              <a:tr h="27431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Language badges: audio and subtitle languages found inside the video file. The user's preferred languages are highlighted.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Play / Continue: starts or resumes playback (shows the resume time).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Start over: plays from the beginning.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Add to / remove from My List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More like this: titles from the same category.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166360"/>
            <a:ext cx="6949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5555F"/>
                </a:solidFill>
                <a:latin typeface="Arial"/>
              </a:defRPr>
            </a:pPr>
            <a:r>
              <a:t>For MKV files Velvo reads the track list before playback ("Reading audio and subtitles…" is shown for a moment).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60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6. Sub Page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945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C9CDD4"/>
                </a:solidFill>
                <a:latin typeface="Arial"/>
              </a:defRPr>
            </a:pPr>
            <a:r>
              <a:t>6-3 Series detail</a:t>
            </a:r>
          </a:p>
        </p:txBody>
      </p:sp>
      <p:pic>
        <p:nvPicPr>
          <p:cNvPr id="6" name="Picture 5" descr="a-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6949440" cy="39090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43800" y="1143000"/>
          <a:ext cx="42976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3794760"/>
              </a:tblGrid>
              <a:tr h="2743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Play: plays the next episode to watch (here S1 E1).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Add to / remove from My List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Season selector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Episodes: OK plays the episode; a bar shows the watched part.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166360"/>
            <a:ext cx="6949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5555F"/>
                </a:solidFill>
                <a:latin typeface="Arial"/>
              </a:defRPr>
            </a:pPr>
            <a:r>
              <a:t>The audio and subtitle choice made in one episode is applied automatically to the next episodes of the same series.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60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6. Sub Page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945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C9CDD4"/>
                </a:solidFill>
                <a:latin typeface="Arial"/>
              </a:defRPr>
            </a:pPr>
            <a:r>
              <a:t>6-4 Player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6949440" cy="3909060"/>
          </a:xfrm>
          <a:prstGeom prst="rect">
            <a:avLst/>
          </a:prstGeom>
          <a:solidFill>
            <a:srgbClr val="111116"/>
          </a:solidFill>
          <a:ln>
            <a:solidFill>
              <a:srgbClr val="E60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999A0"/>
                </a:solidFill>
              </a:defRPr>
            </a:pPr>
            <a:r>
              <a:t>[Player screenshot from the TV]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43800" y="1143000"/>
          <a:ext cx="4297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3794760"/>
              </a:tblGrid>
              <a:tr h="2743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Rewind 10 s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Play / Pause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Forward 10 s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Audio: list of audio tracks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Subtitles: Off + subtitle tracks, and Size, Color, Position (◀ ▶)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Next episode (series only)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Seek bar with elapsed and total time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166360"/>
            <a:ext cx="11430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5555F"/>
                </a:solidFill>
                <a:latin typeface="Arial"/>
              </a:defRPr>
            </a:pPr>
            <a:r>
              <a:t>Keys: any key shows the control bar · OK on ⏯ pauses/resumes · ◀ ▶ seek 10 s while the bar is hidden · YELLOW = next audio track · BLUE = next subtitle track · PLAY, PAUSE, STOP, FF, REW media keys · CH+ / CH− change channel in live TV.</a:t>
            </a:r>
          </a:p>
          <a:p>
            <a:pPr>
              <a:spcAft>
                <a:spcPts val="400"/>
              </a:spcAft>
              <a:defRPr sz="1100" b="0">
                <a:solidFill>
                  <a:srgbClr val="55555F"/>
                </a:solidFill>
                <a:latin typeface="Arial"/>
              </a:defRPr>
            </a:pPr>
            <a:r>
              <a:t>BACK closes an open popup first, then leaves the player and returns to the previous page.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60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6. Sub Page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945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C9CDD4"/>
                </a:solidFill>
                <a:latin typeface="Arial"/>
              </a:defRPr>
            </a:pPr>
            <a:r>
              <a:t>6-5 Live TV</a:t>
            </a:r>
          </a:p>
        </p:txBody>
      </p:sp>
      <p:pic>
        <p:nvPicPr>
          <p:cNvPr id="6" name="Picture 5" descr="a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6949440" cy="39090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43800" y="1143000"/>
          <a:ext cx="4297680" cy="822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3794760"/>
              </a:tblGrid>
              <a:tr h="27431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Channel categories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21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Channels: OK plays the channel. Channels without a logo show short initials.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166360"/>
            <a:ext cx="6949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5555F"/>
                </a:solidFill>
                <a:latin typeface="Arial"/>
              </a:defRPr>
            </a:pPr>
            <a:r>
              <a:t>In the player, CH+ / CH− switch to the previous or next channel of the same category.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60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6. Sub Page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945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C9CDD4"/>
                </a:solidFill>
                <a:latin typeface="Arial"/>
              </a:defRPr>
            </a:pPr>
            <a:r>
              <a:t>6-6 Search</a:t>
            </a:r>
          </a:p>
        </p:txBody>
      </p:sp>
      <p:pic>
        <p:nvPicPr>
          <p:cNvPr id="6" name="Picture 5" descr="a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6949440" cy="39090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43800" y="1143000"/>
          <a:ext cx="429768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3794760"/>
              </a:tblGrid>
              <a:tr h="27431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On-screen keyboard: letters and digits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Space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Delete the last character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Clear the search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Results: movies, series and live channels whose names match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166360"/>
            <a:ext cx="6949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5555F"/>
                </a:solidFill>
                <a:latin typeface="Arial"/>
              </a:defRPr>
            </a:pPr>
            <a:r>
              <a:t>OK on a result opens its detail page (or plays a channel).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60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6. Sub Page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945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C9CDD4"/>
                </a:solidFill>
                <a:latin typeface="Arial"/>
              </a:defRPr>
            </a:pPr>
            <a:r>
              <a:t>6-7 Settings</a:t>
            </a:r>
          </a:p>
        </p:txBody>
      </p:sp>
      <p:pic>
        <p:nvPicPr>
          <p:cNvPr id="6" name="Picture 5" descr="a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6949440" cy="39090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43800" y="1143000"/>
          <a:ext cx="429768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3794760"/>
              </a:tblGrid>
              <a:tr h="27431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E6005C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Settings tabs: Profile · Language and subtitles (app language, preferred audio and subtitle language) · Subtitle style · Home (choose and order rows) · IPTV account (sign out) · About (version, license, source code)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Subtitle size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Subtitle color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Subtitle position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0812"/>
                          </a:solidFill>
                          <a:latin typeface="Arial"/>
                        </a:defRPr>
                      </a:pPr>
                      <a:r>
                        <a:t>Preview of the selected style</a:t>
                      </a:r>
                    </a:p>
                  </a:txBody>
                  <a:tcPr marT="30000" marB="30000">
                    <a:solidFill>
                      <a:srgbClr val="F6F1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166360"/>
            <a:ext cx="6949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5555F"/>
                </a:solidFill>
                <a:latin typeface="Arial"/>
              </a:defRPr>
            </a:pPr>
            <a:r>
              <a:t>Subtitle style can also be changed while watching, from the Subtitles button in the player.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60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7. Paid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1C0812"/>
                </a:solidFill>
                <a:latin typeface="Arial"/>
              </a:defRPr>
            </a:pPr>
            <a:r>
              <a:t>None.</a:t>
            </a:r>
          </a:p>
          <a:p>
            <a:pPr>
              <a:spcAft>
                <a:spcPts val="400"/>
              </a:spcAft>
              <a:defRPr sz="2000" b="0">
                <a:solidFill>
                  <a:srgbClr val="1C0812"/>
                </a:solidFill>
                <a:latin typeface="Arial"/>
              </a:defRPr>
            </a:pPr>
            <a:r>
              <a:t>Velvo is free. It has no in-app purchases, no payment methods and no paid content, so no test credit cards or voucher codes are needed.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60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8. In-App 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1C0812"/>
                </a:solidFill>
                <a:latin typeface="Arial"/>
              </a:defRPr>
            </a:pPr>
            <a:r>
              <a:t>None.</a:t>
            </a:r>
          </a:p>
          <a:p>
            <a:pPr>
              <a:spcAft>
                <a:spcPts val="400"/>
              </a:spcAft>
              <a:defRPr sz="2000" b="0">
                <a:solidFill>
                  <a:srgbClr val="1C0812"/>
                </a:solidFill>
                <a:latin typeface="Arial"/>
              </a:defRPr>
            </a:pPr>
            <a:r>
              <a:t>Velvo shows no advertisements (no banner or video ads).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60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Appendix: Notes for LG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C0812"/>
                </a:solidFill>
                <a:latin typeface="Arial"/>
              </a:defRPr>
            </a:pPr>
            <a:r>
              <a:t>Content</a:t>
            </a:r>
          </a:p>
          <a:p>
            <a:pPr>
              <a:spcAft>
                <a:spcPts val="400"/>
              </a:spcAft>
              <a:defRPr sz="1300" b="0">
                <a:solidFill>
                  <a:srgbClr val="1C0812"/>
                </a:solidFill>
                <a:latin typeface="Arial"/>
              </a:defRPr>
            </a:pPr>
            <a:r>
              <a:t>Velvo is a player only and contains no content. Please use the demo M3U playlist from section 4; it contains only openly licensed Blender Foundation films and public test streams.</a:t>
            </a:r>
          </a:p>
          <a:p>
            <a:pPr>
              <a:spcAft>
                <a:spcPts val="400"/>
              </a:spcAft>
              <a:defRPr sz="1300" b="1">
                <a:solidFill>
                  <a:srgbClr val="1C0812"/>
                </a:solidFill>
                <a:latin typeface="Arial"/>
              </a:defRPr>
            </a:pPr>
            <a:r>
              <a:t>Testing subtitles and audio</a:t>
            </a:r>
          </a:p>
          <a:p>
            <a:pPr>
              <a:spcAft>
                <a:spcPts val="400"/>
              </a:spcAft>
              <a:defRPr sz="1300" b="0">
                <a:solidFill>
                  <a:srgbClr val="1C0812"/>
                </a:solidFill>
                <a:latin typeface="Arial"/>
              </a:defRPr>
            </a:pPr>
            <a:r>
              <a:t>Movies › "Sintel (2010)" has 1 audio track and 10 embedded subtitle tracks. In the player, open Subtitles to select a language and change size, color and position. On TV models where the platform does not allow embedded subtitle selection, Velvo hides the subtitle list and shows a message instead.</a:t>
            </a:r>
          </a:p>
          <a:p>
            <a:pPr>
              <a:spcAft>
                <a:spcPts val="400"/>
              </a:spcAft>
              <a:defRPr sz="1300" b="1">
                <a:solidFill>
                  <a:srgbClr val="1C0812"/>
                </a:solidFill>
                <a:latin typeface="Arial"/>
              </a:defRPr>
            </a:pPr>
            <a:r>
              <a:t>Interface language</a:t>
            </a:r>
          </a:p>
          <a:p>
            <a:pPr>
              <a:spcAft>
                <a:spcPts val="400"/>
              </a:spcAft>
              <a:defRPr sz="1300" b="0">
                <a:solidFill>
                  <a:srgbClr val="1C0812"/>
                </a:solidFill>
                <a:latin typeface="Arial"/>
              </a:defRPr>
            </a:pPr>
            <a:r>
              <a:t>Settings › Language and subtitles › App language: Automatic (follows the TV language), Türkçe or English.</a:t>
            </a:r>
          </a:p>
          <a:p>
            <a:pPr>
              <a:spcAft>
                <a:spcPts val="400"/>
              </a:spcAft>
              <a:defRPr sz="1300" b="1">
                <a:solidFill>
                  <a:srgbClr val="1C0812"/>
                </a:solidFill>
                <a:latin typeface="Arial"/>
              </a:defRPr>
            </a:pPr>
            <a:r>
              <a:t>Data</a:t>
            </a:r>
          </a:p>
          <a:p>
            <a:pPr>
              <a:spcAft>
                <a:spcPts val="400"/>
              </a:spcAft>
              <a:defRPr sz="1300" b="0">
                <a:solidFill>
                  <a:srgbClr val="1C0812"/>
                </a:solidFill>
                <a:latin typeface="Arial"/>
              </a:defRPr>
            </a:pPr>
            <a:r>
              <a:t>All user data stays on the TV. Settings › IPTV account › Sign out removes the saved playlist.</a:t>
            </a:r>
          </a:p>
          <a:p>
            <a:pPr>
              <a:spcAft>
                <a:spcPts val="400"/>
              </a:spcAft>
              <a:defRPr sz="1300" b="1">
                <a:solidFill>
                  <a:srgbClr val="1C0812"/>
                </a:solidFill>
                <a:latin typeface="Arial"/>
              </a:defRPr>
            </a:pPr>
            <a:r>
              <a:t>Contact</a:t>
            </a:r>
          </a:p>
          <a:p>
            <a:pPr>
              <a:spcAft>
                <a:spcPts val="400"/>
              </a:spcAft>
              <a:defRPr sz="1300" b="0">
                <a:solidFill>
                  <a:srgbClr val="1C0812"/>
                </a:solidFill>
                <a:latin typeface="Arial"/>
              </a:defRPr>
            </a:pPr>
            <a:r>
              <a:t>FTanBorn · (support e-mail) · https://github.com/FTanBorn/velvo/issues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